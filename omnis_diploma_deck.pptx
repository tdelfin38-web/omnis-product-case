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Nunito"/>
      <p:regular r:id="rId41"/>
      <p:bold r:id="rId42"/>
      <p:italic r:id="rId43"/>
      <p:boldItalic r:id="rId44"/>
    </p:embeddedFont>
    <p:embeddedFont>
      <p:font typeface="Maven Pro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37F0F5-73BB-4987-9EA2-1EF2F5BF7373}">
  <a:tblStyle styleId="{FB37F0F5-73BB-4987-9EA2-1EF2F5BF73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Nunito-bold.fntdata"/><Relationship Id="rId41" Type="http://schemas.openxmlformats.org/officeDocument/2006/relationships/font" Target="fonts/Nunito-regular.fntdata"/><Relationship Id="rId22" Type="http://schemas.openxmlformats.org/officeDocument/2006/relationships/slide" Target="slides/slide16.xml"/><Relationship Id="rId44" Type="http://schemas.openxmlformats.org/officeDocument/2006/relationships/font" Target="fonts/Nunito-boldItalic.fntdata"/><Relationship Id="rId21" Type="http://schemas.openxmlformats.org/officeDocument/2006/relationships/slide" Target="slides/slide15.xml"/><Relationship Id="rId43" Type="http://schemas.openxmlformats.org/officeDocument/2006/relationships/font" Target="fonts/Nunito-italic.fntdata"/><Relationship Id="rId24" Type="http://schemas.openxmlformats.org/officeDocument/2006/relationships/slide" Target="slides/slide18.xml"/><Relationship Id="rId46" Type="http://schemas.openxmlformats.org/officeDocument/2006/relationships/font" Target="fonts/MavenPro-bold.fntdata"/><Relationship Id="rId23" Type="http://schemas.openxmlformats.org/officeDocument/2006/relationships/slide" Target="slides/slide17.xml"/><Relationship Id="rId45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15f5e0573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215f5e0573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15f5e057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15f5e057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15f5e057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215f5e057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15f5e0573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215f5e057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15f5e0573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215f5e0573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215f5e057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215f5e057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215f5e057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215f5e057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15f5e0573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215f5e0573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215f5e0573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215f5e0573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15f5e0573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215f5e0573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15f5e0573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215f5e0573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15f5e057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215f5e057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215f5e0573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215f5e0573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215f5e0573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215f5e0573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215f5e0573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215f5e0573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15f5e0573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215f5e0573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215f5e0573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215f5e0573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215f5e0573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215f5e0573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215f5e0573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215f5e0573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15f5e057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215f5e057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215f5e0573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215f5e0573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215f5e0573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215f5e0573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215f5e0573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215f5e057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215f5e0573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215f5e0573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215f5e057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215f5e057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215f5e057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215f5e057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215f5e0573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215f5e0573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215f5e0573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215f5e0573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215f5e0573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215f5e0573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215f5e0573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215f5e0573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215f5e0573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215f5e0573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215f5e0573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215f5e0573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215f5e0573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215f5e0573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Сервис доставки рецептурных препаратов Омнис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Оглавление</a:t>
            </a:r>
            <a:endParaRPr sz="3900"/>
          </a:p>
        </p:txBody>
      </p:sp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448225" y="1428850"/>
            <a:ext cx="7030500" cy="38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Описание проекта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Исследование рынка и конкурентов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Описание продукта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Разработка продукта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ru" sz="1900"/>
              <a:t>Дизайн-концепция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ru" sz="1900"/>
              <a:t>Продвижение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ru" sz="1900"/>
              <a:t>Анализ рисков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ru" sz="1900"/>
              <a:t>Бизнес-модель и экономика проекта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ru" sz="1900"/>
              <a:t>Дальнейшие шаги</a:t>
            </a:r>
            <a:endParaRPr b="1"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3233100" y="2191950"/>
            <a:ext cx="2902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77520" lvl="0" marL="457200" rtl="0" algn="l">
              <a:spcBef>
                <a:spcPts val="0"/>
              </a:spcBef>
              <a:spcAft>
                <a:spcPts val="0"/>
              </a:spcAft>
              <a:buSzPts val="3920"/>
              <a:buAutoNum type="arabicPeriod"/>
            </a:pPr>
            <a:r>
              <a:rPr lang="ru" sz="3920"/>
              <a:t>Введение</a:t>
            </a:r>
            <a:endParaRPr sz="3920"/>
          </a:p>
        </p:txBody>
      </p:sp>
      <p:pic>
        <p:nvPicPr>
          <p:cNvPr id="290" name="Google Shape;2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1.1 </a:t>
            </a:r>
            <a:r>
              <a:rPr lang="ru"/>
              <a:t>Описание проекта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418000"/>
            <a:ext cx="7030500" cy="31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Омнис запускает инновационный сервис доставки рецептурных лекарственных препаратов с интеграцией функционала для загрузки электронных рецептов.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Задачи, которые решает проект: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Упрощение и ускорение процесса получения рецептурных препаратов.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электронной системой здравоохранения 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автоматической проверки и обработки рецептов.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Повышение доступности лекарств для людей с ограниченной мобильностью и занятых людей.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Повышение безопасности, прозрачности и удобства получения медикаментов через маркетплейс.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1.2</a:t>
            </a:r>
            <a:r>
              <a:rPr lang="ru"/>
              <a:t> Миссия проекта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1303800" y="14456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Наша миссия:</a:t>
            </a:r>
            <a:b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Создать удобную, безопасную и технологически продвинутую платформу для покупки медикаментов, включая рецептурные препараты, обеспечивая доступность лекарств для всех граждан России. 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-Мы стремимся упростить процесс получения рецептов и лекарств, максимально интегрируя сервис с системой здравоохранения для обеспечения высококачественного обслуживания.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1.3 Цель проекта</a:t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216825" y="1435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br>
              <a:rPr b="1"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-Завершить интеграцию с </a:t>
            </a: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аптек в России и медицинскими учреждениями для автоматической обработки электронных рецептов в течение двух лет. 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-Достигнуть </a:t>
            </a: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миллионов 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пользователей в первый год работы и обеспечить доставку рецептурных препаратов в </a:t>
            </a: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80%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российских регионов.</a:t>
            </a:r>
            <a:endParaRPr sz="1500"/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1.4 Целевая аудитория</a:t>
            </a:r>
            <a:endParaRPr/>
          </a:p>
        </p:txBody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1216825" y="1457100"/>
            <a:ext cx="7030500" cy="3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Целевая аудитория: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Занятые профессионалы (25-45 лет)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живущие в больших городах и имеющие высшее образование: Люди, у которых нет времени на посещение аптек и получения рецептов традиционным способом.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Пациенты с хроническими заболеваниями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Нуждаются в постоянном приеме рецептурных медикаментов и могут столкнуться с трудностями в посещении аптек.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Малоподвижные люди и инвалиды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Потребность в удаленном и удобном способе получения медикаментов без необходимости покидать дом.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Обоснование выбора аудитории: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Эти группы имеют важную потребность в регулярном получении лекарств, а также сталкиваются с барьерами, такими как ограниченная мобильность, нехватка времени или сложности в доступе к медицинским услугам.</a:t>
            </a: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1.5 Job story</a:t>
            </a:r>
            <a:endParaRPr/>
          </a:p>
        </p:txBody>
      </p:sp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1303800" y="1435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Когда</a:t>
            </a:r>
            <a:r>
              <a:rPr i="1"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я занят на работе и у меня нет времени ходить в аптеку,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 хочу</a:t>
            </a:r>
            <a:r>
              <a:rPr i="1"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заказывать рецептурные препараты через маркетплейс Омнис с доставкой на дом,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чтобы</a:t>
            </a:r>
            <a:r>
              <a:rPr i="1" lang="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я мог быстро и удобно получить нужные лекарства, не тратя время на походы в аптеку и ожидание.</a:t>
            </a:r>
            <a:endParaRPr i="1" sz="1800"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862700" y="1917300"/>
            <a:ext cx="5418600" cy="13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2. </a:t>
            </a:r>
            <a:r>
              <a:rPr lang="ru" sz="3900"/>
              <a:t>Исследование рынка и конкурентов</a:t>
            </a:r>
            <a:endParaRPr sz="3900"/>
          </a:p>
        </p:txBody>
      </p:sp>
      <p:pic>
        <p:nvPicPr>
          <p:cNvPr id="331" name="Google Shape;3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2.1 </a:t>
            </a:r>
            <a:r>
              <a:rPr lang="ru"/>
              <a:t>Размер рынка коммерческой доставки лекарств</a:t>
            </a:r>
            <a:endParaRPr/>
          </a:p>
        </p:txBody>
      </p:sp>
      <p:sp>
        <p:nvSpPr>
          <p:cNvPr id="337" name="Google Shape;337;p22"/>
          <p:cNvSpPr txBox="1"/>
          <p:nvPr>
            <p:ph idx="1" type="body"/>
          </p:nvPr>
        </p:nvSpPr>
        <p:spPr>
          <a:xfrm>
            <a:off x="1303800" y="1718200"/>
            <a:ext cx="7030500" cy="31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 (Total Addressable Market)</a:t>
            </a: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Общий рынок доставки лекарств в России, включая все сегменты (рецептурные и безрецептурные препараты). В 2023 году этот рынок оценивался в 100 миллиардов рублей.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 (Serviceable Available Market)</a:t>
            </a: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Рынок доставки рецептурных препаратов, который может быть обслужен с помощью технологии интеграции с электронной системой здравоохранения — около 25-30% от TAM, то есть около 30 миллиардов рублей.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 (Serviceable Obtainable Market)</a:t>
            </a: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Прогнозируемая доля рынка, которую проект сможет захватить в первые 2 года после запуска — примерно 10-15% от SAM (около 3-4 миллиардов рублей).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Рост рынка</a:t>
            </a: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Рынок доставки лекарств показывает устойчивый рост: за последние 3 года объем увеличился на 15-20% ежегодно, с перспективами роста еще на 25% в ближайшие 2 года благодаря внедрению цифровых технологий в здравоохранение.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2.2 Тенденции и технологические инновации</a:t>
            </a:r>
            <a:endParaRPr/>
          </a:p>
        </p:txBody>
      </p:sp>
      <p:sp>
        <p:nvSpPr>
          <p:cNvPr id="344" name="Google Shape;344;p23"/>
          <p:cNvSpPr txBox="1"/>
          <p:nvPr>
            <p:ph idx="1" type="body"/>
          </p:nvPr>
        </p:nvSpPr>
        <p:spPr>
          <a:xfrm>
            <a:off x="1303800" y="1446350"/>
            <a:ext cx="7030500" cy="34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Рост онлайн-медицинских сервисов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Увеличение числа пользователей онлайн-платформ для консультаций с врачами и получения рецептов.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eHealth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Внедрение электронных рецептов и их интеграция с аптеками.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Использование ИИ для обработки рецептов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Автоматизация проверок рецептов с помощью искусственного интеллекта.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Блокчейн для безопасности данных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Применение блокчейн-технологий для обеспечения прозрачности и безопасности транзакций и хранения данных о лекарствах.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Умные устройства для мониторинга здоровья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Прогресс в разработке носимых технологий, которые могут мониторить состояние пациента и автоматически обновлять его медицинские данные.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2.3 Анализ конкурентов </a:t>
            </a:r>
            <a:endParaRPr/>
          </a:p>
        </p:txBody>
      </p:sp>
      <p:graphicFrame>
        <p:nvGraphicFramePr>
          <p:cNvPr id="351" name="Google Shape;351;p24"/>
          <p:cNvGraphicFramePr/>
          <p:nvPr/>
        </p:nvGraphicFramePr>
        <p:xfrm>
          <a:off x="184850" y="14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{FB37F0F5-73BB-4987-9EA2-1EF2F5BF7373}</a:tableStyleId>
              </a:tblPr>
              <a:tblGrid>
                <a:gridCol w="958375"/>
                <a:gridCol w="3438100"/>
                <a:gridCol w="3294350"/>
              </a:tblGrid>
              <a:tr h="5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Конкурент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Сильные стороны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Слабые стороны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</a:tr>
              <a:tr h="97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Аптека.ру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Широкий ассортимент, доставка по всей России, интеграция с электронной системой здравоохранения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Неудобный интерфейс, задержки в доставке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</a:tr>
              <a:tr h="97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Ригла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Широкий ассортимент, онлайн-консультации, удобное приложение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Проблемы с электронной системой рецептов, высокая стоимость доставки в удалённые регионы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</a:tr>
              <a:tr h="97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Еаптека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Простота использования, быстрая доставка, программа лояльности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Ограниченная интеграция с электронной системой здравоохранения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</a:tr>
            </a:tbl>
          </a:graphicData>
        </a:graphic>
      </p:graphicFrame>
      <p:pic>
        <p:nvPicPr>
          <p:cNvPr id="352" name="Google Shape;3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</a:t>
            </a:r>
            <a:r>
              <a:rPr lang="ru"/>
              <a:t>.3 Анализ конкурентов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 txBox="1"/>
          <p:nvPr>
            <p:ph idx="1" type="body"/>
          </p:nvPr>
        </p:nvSpPr>
        <p:spPr>
          <a:xfrm>
            <a:off x="1303800" y="1435475"/>
            <a:ext cx="7030500" cy="31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"Омнис" по сравнению с конкурентами: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системой здравоохранения: Процесс получения рецептов полностью автоматизирован, что упрощает жизнь пользователю.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Особое внимание целевой аудитории: Удобство для людей с ограниченными возможностями и пожилых людей.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Широкая география доставки: Платформа обеспечивает доставку рецептурных препаратов в 80% российских регионов.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Безопасность и прозрачность: Строгий контроль за качеством лекарств и прозрачность операций.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3. </a:t>
            </a:r>
            <a:r>
              <a:rPr lang="ru" sz="3900"/>
              <a:t>Описание продукта</a:t>
            </a:r>
            <a:endParaRPr sz="3900"/>
          </a:p>
        </p:txBody>
      </p:sp>
      <p:pic>
        <p:nvPicPr>
          <p:cNvPr id="365" name="Google Shape;3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3.1 Концепция продукта</a:t>
            </a:r>
            <a:endParaRPr/>
          </a:p>
        </p:txBody>
      </p:sp>
      <p:sp>
        <p:nvSpPr>
          <p:cNvPr id="371" name="Google Shape;371;p27"/>
          <p:cNvSpPr txBox="1"/>
          <p:nvPr>
            <p:ph idx="1" type="body"/>
          </p:nvPr>
        </p:nvSpPr>
        <p:spPr>
          <a:xfrm>
            <a:off x="1303800" y="1457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Уникальность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Платформа для заказа и доставки рецептурных препаратов с возможностью загрузки и использования электронных рецептов.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системой здравоохранения для автоматической обработки рецептов.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Доставка медикаментов прямо на дом.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Повышенная безопасность, прозрачность и удобство получения препаратов.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3.2 Функциональность</a:t>
            </a:r>
            <a:endParaRPr/>
          </a:p>
        </p:txBody>
      </p:sp>
      <p:sp>
        <p:nvSpPr>
          <p:cNvPr id="378" name="Google Shape;378;p28"/>
          <p:cNvSpPr txBox="1"/>
          <p:nvPr>
            <p:ph idx="1" type="body"/>
          </p:nvPr>
        </p:nvSpPr>
        <p:spPr>
          <a:xfrm>
            <a:off x="1303800" y="14463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Электронные рецепты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Автоматическая загрузка и проверка электронных рецептов из системы здравоохранения.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Геолокация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Возможность выбора ближайших аптек для быстрой доставки.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Маркетплейс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Доступ к большому числу аптек с возможностью выбора лучших условий.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Рекомендации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Интеллектуальные рекомендации по препаратам на основе истории покупок и медицинских данных.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Круглосуточная поддержка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Помощь при оформлении заказов и консультации по препаратам.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4. </a:t>
            </a:r>
            <a:r>
              <a:rPr lang="ru" sz="3900"/>
              <a:t>Разработка продукта</a:t>
            </a:r>
            <a:endParaRPr sz="3900"/>
          </a:p>
        </p:txBody>
      </p:sp>
      <p:pic>
        <p:nvPicPr>
          <p:cNvPr id="385" name="Google Shape;3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4.1 </a:t>
            </a:r>
            <a:r>
              <a:rPr lang="ru"/>
              <a:t>Создание MVP</a:t>
            </a:r>
            <a:endParaRPr/>
          </a:p>
        </p:txBody>
      </p:sp>
      <p:sp>
        <p:nvSpPr>
          <p:cNvPr id="391" name="Google Shape;391;p30"/>
          <p:cNvSpPr txBox="1"/>
          <p:nvPr>
            <p:ph idx="1" type="body"/>
          </p:nvPr>
        </p:nvSpPr>
        <p:spPr>
          <a:xfrm>
            <a:off x="1303800" y="1435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MVP включает: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Приложение для пользователей (мобильное и веб-версии).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системой электронных рецептов.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Услуга доставки рецептурных препаратов в крупных городах.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Опытное тестирование с группой пользователей в Москве и Санкт-Петербурге.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4.2 </a:t>
            </a:r>
            <a:r>
              <a:rPr lang="ru"/>
              <a:t>Основная проблема пользователя, решаемая MVP</a:t>
            </a:r>
            <a:endParaRPr/>
          </a:p>
        </p:txBody>
      </p:sp>
      <p:sp>
        <p:nvSpPr>
          <p:cNvPr id="398" name="Google Shape;398;p31"/>
          <p:cNvSpPr txBox="1"/>
          <p:nvPr>
            <p:ph idx="1" type="body"/>
          </p:nvPr>
        </p:nvSpPr>
        <p:spPr>
          <a:xfrm>
            <a:off x="1238550" y="14463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Основная проблема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сложность получения рецептурных препаратов без посещения врача и аптек. 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MVP позволяет пользователям получать медикаменты на дому через систему электронных рецептов, что решает проблему нехватки времени, ограниченной мобильности и доступности.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4.3 Создание MLP</a:t>
            </a:r>
            <a:endParaRPr/>
          </a:p>
        </p:txBody>
      </p:sp>
      <p:sp>
        <p:nvSpPr>
          <p:cNvPr id="405" name="Google Shape;405;p32"/>
          <p:cNvSpPr txBox="1"/>
          <p:nvPr>
            <p:ph idx="1" type="body"/>
          </p:nvPr>
        </p:nvSpPr>
        <p:spPr>
          <a:xfrm>
            <a:off x="1303800" y="1457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улучшения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Добавление персонализированных рекомендаций.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медицинскими сервисами для диагностики и отслеживания состояния здоровья пользователя.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Расширение географии доставки в новые регионы.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4.4 Целевой продукт</a:t>
            </a:r>
            <a:endParaRPr/>
          </a:p>
        </p:txBody>
      </p:sp>
      <p:sp>
        <p:nvSpPr>
          <p:cNvPr id="412" name="Google Shape;412;p33"/>
          <p:cNvSpPr txBox="1"/>
          <p:nvPr>
            <p:ph idx="1" type="body"/>
          </p:nvPr>
        </p:nvSpPr>
        <p:spPr>
          <a:xfrm>
            <a:off x="1303800" y="14354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Разработка универсальной платформы для покупки и доставки лекарств, обеспечивающая доступность препаратов для всех пользователей по всей России.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Онлайн-консультации с врачами.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Улучшение системы получения рецептов.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Многоуровневая безопасность данных пользователей.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4.5 </a:t>
            </a:r>
            <a:r>
              <a:rPr lang="ru"/>
              <a:t>Процесс создания проекта: Roadmap</a:t>
            </a:r>
            <a:endParaRPr/>
          </a:p>
        </p:txBody>
      </p:sp>
      <p:sp>
        <p:nvSpPr>
          <p:cNvPr id="419" name="Google Shape;419;p34"/>
          <p:cNvSpPr txBox="1"/>
          <p:nvPr>
            <p:ph idx="1" type="body"/>
          </p:nvPr>
        </p:nvSpPr>
        <p:spPr>
          <a:xfrm>
            <a:off x="1303800" y="14463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Месяц 1-3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Разработка MVP и тестирование в крупных городах.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Месяц 4-6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Улучшение функционала на основе обратной связи.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Месяц 7-12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Расширение функционала и начало маркетинговых кампаний.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 2-3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Масштабирование проекта по регионам, добавление новых услуг и оптимизация процессов.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0" name="Google Shape;4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5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5. Дизайн концепция</a:t>
            </a:r>
            <a:endParaRPr sz="3900"/>
          </a:p>
        </p:txBody>
      </p:sp>
      <p:pic>
        <p:nvPicPr>
          <p:cNvPr id="426" name="Google Shape;4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5. Дизайн-концепция</a:t>
            </a:r>
            <a:endParaRPr/>
          </a:p>
        </p:txBody>
      </p:sp>
      <p:sp>
        <p:nvSpPr>
          <p:cNvPr id="432" name="Google Shape;432;p3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2758"/>
            <a:ext cx="9144001" cy="3471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6. Продвижение </a:t>
            </a:r>
            <a:endParaRPr sz="3900"/>
          </a:p>
        </p:txBody>
      </p:sp>
      <p:pic>
        <p:nvPicPr>
          <p:cNvPr id="439" name="Google Shape;4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6. Продвижение</a:t>
            </a:r>
            <a:endParaRPr/>
          </a:p>
        </p:txBody>
      </p:sp>
      <p:sp>
        <p:nvSpPr>
          <p:cNvPr id="445" name="Google Shape;445;p38"/>
          <p:cNvSpPr txBox="1"/>
          <p:nvPr>
            <p:ph idx="1" type="body"/>
          </p:nvPr>
        </p:nvSpPr>
        <p:spPr>
          <a:xfrm>
            <a:off x="1303800" y="14463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Целевая аудитория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Рекламные кампании в социальных сетях, сотрудничество с медицинскими учреждениями.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Платформы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Продвижение через партнерские сети аптек, сотрудничество с врачами.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Методы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SEO, контекстная реклама, акционные предложения.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7. Анализ рисков</a:t>
            </a:r>
            <a:endParaRPr sz="3900"/>
          </a:p>
        </p:txBody>
      </p:sp>
      <p:pic>
        <p:nvPicPr>
          <p:cNvPr id="452" name="Google Shape;4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7. Анализ рисков</a:t>
            </a:r>
            <a:endParaRPr/>
          </a:p>
        </p:txBody>
      </p:sp>
      <p:sp>
        <p:nvSpPr>
          <p:cNvPr id="458" name="Google Shape;458;p40"/>
          <p:cNvSpPr txBox="1"/>
          <p:nvPr>
            <p:ph idx="1" type="body"/>
          </p:nvPr>
        </p:nvSpPr>
        <p:spPr>
          <a:xfrm>
            <a:off x="1303800" y="14246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Риски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Технические риски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Интеграция с системой электронных рецептов может столкнуться с проблемами несовместимости.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Юридические риски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Регулирование использования электронных рецептов и доставка медикаментов.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Финансовые риски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Недооценка затрат на расширение географии.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Стратегии минимизации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Тщательное тестирование и сотрудничество с регуляторами.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гибкой модели финансового планирования.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1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ru" sz="3900">
                <a:solidFill>
                  <a:srgbClr val="000000"/>
                </a:solidFill>
              </a:rPr>
              <a:t>8.Бизнес-модель и экономика проекта</a:t>
            </a:r>
            <a:endParaRPr sz="3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465" name="Google Shape;46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8. Бизнес модель и экономика проекта</a:t>
            </a:r>
            <a:endParaRPr/>
          </a:p>
        </p:txBody>
      </p:sp>
      <p:sp>
        <p:nvSpPr>
          <p:cNvPr id="471" name="Google Shape;471;p42"/>
          <p:cNvSpPr txBox="1"/>
          <p:nvPr>
            <p:ph idx="1" type="body"/>
          </p:nvPr>
        </p:nvSpPr>
        <p:spPr>
          <a:xfrm>
            <a:off x="1303800" y="1435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Бизнес-модель</a:t>
            </a:r>
            <a:b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 монетизации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Комиссии с аптек за использование платформы и доставки. Дополнительные доходы от рекламы и рекомендаций препаратов.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Прогноз GMV</a:t>
            </a:r>
            <a:b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Прогноз GMV на 3 года с учетом увеличения среднего чека и объема заказов: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 1: 3 миллиарда рублей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 2: 5 миллиардов рублей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 3: 7 миллиардов рублей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2" name="Google Shape;4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3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9. Дальнейшие шаги</a:t>
            </a:r>
            <a:endParaRPr sz="3900"/>
          </a:p>
        </p:txBody>
      </p:sp>
      <p:pic>
        <p:nvPicPr>
          <p:cNvPr id="478" name="Google Shape;4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9. Дальнейшие шаги</a:t>
            </a:r>
            <a:endParaRPr/>
          </a:p>
        </p:txBody>
      </p:sp>
      <p:sp>
        <p:nvSpPr>
          <p:cNvPr id="484" name="Google Shape;484;p44"/>
          <p:cNvSpPr txBox="1"/>
          <p:nvPr>
            <p:ph idx="1" type="body"/>
          </p:nvPr>
        </p:nvSpPr>
        <p:spPr>
          <a:xfrm>
            <a:off x="1303800" y="14681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Шаг 1. Масштабирование на другие города</a:t>
            </a:r>
            <a:br>
              <a:rPr b="1"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Масштабирование в города с высокой плотностью населения и потребностью в доставке:</a:t>
            </a:r>
            <a:endParaRPr sz="5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Москва, Санкт-Петербург, Екатеринбург, Новосибирск, Казань.</a:t>
            </a:r>
            <a:endParaRPr sz="5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Шаг 2. Дополнительные сегменты потребителей</a:t>
            </a:r>
            <a:endParaRPr b="1" sz="5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Пожилые люди</a:t>
            </a:r>
            <a: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Специальный интерфейс и поддержка.</a:t>
            </a:r>
            <a:b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Люди с ограниченными возможностями</a:t>
            </a:r>
            <a: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Интеграция с устройствами для людей с инвалидностью.</a:t>
            </a:r>
            <a:endParaRPr sz="5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Шаг 3. Добавление новых функций</a:t>
            </a:r>
            <a:endParaRPr b="1" sz="5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 «По клику» — доставка в аптеку, затем привоз на дом.</a:t>
            </a:r>
            <a:b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Метрика</a:t>
            </a:r>
            <a:r>
              <a:rPr lang="ru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Среднее время доставки, частота использования функции.</a:t>
            </a:r>
            <a:endParaRPr sz="5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5" name="Google Shape;48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10. Аргументация </a:t>
            </a:r>
            <a:endParaRPr/>
          </a:p>
        </p:txBody>
      </p:sp>
      <p:sp>
        <p:nvSpPr>
          <p:cNvPr id="491" name="Google Shape;491;p45"/>
          <p:cNvSpPr txBox="1"/>
          <p:nvPr>
            <p:ph idx="1" type="body"/>
          </p:nvPr>
        </p:nvSpPr>
        <p:spPr>
          <a:xfrm>
            <a:off x="1303800" y="14681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 имеет: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Сильную команду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Опыт в разработке технологических решений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Знание рынка здравоохранения и доставки</a:t>
            </a: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Уникальный подход к интеграции с системой электронных рецептов, что делает проект наиболее удобным и безопасным для пользователей.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2" name="Google Shape;49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6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Спасибо за </a:t>
            </a:r>
            <a:r>
              <a:rPr lang="ru" sz="3900"/>
              <a:t>внимание</a:t>
            </a:r>
            <a:r>
              <a:rPr lang="ru" sz="3900"/>
              <a:t>!</a:t>
            </a:r>
            <a:endParaRPr sz="3900"/>
          </a:p>
        </p:txBody>
      </p:sp>
      <p:pic>
        <p:nvPicPr>
          <p:cNvPr id="498" name="Google Shape;4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650" y="4821625"/>
            <a:ext cx="1181348" cy="3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